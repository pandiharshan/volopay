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&amp; PHASE 5 | EXECUTIVE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Intelligence Inbox: Manager Problem &amp; Core Findings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08760"/>
            <a:ext cx="438912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91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The Manager Problem Solved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38404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8FAFC"/>
                </a:solidFill>
              </a:rPr>
              <a:t>Unstructured Ingestion Chaos: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A sales manager receives disconnected telemetry across telephony, video bots, and calendar systems with delayed transcripts, mixed purposes, and unreliable upstream labels.
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8FAFC"/>
                </a:solidFill>
              </a:rPr>
              <a:t>Asymmetric Information: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44 records arrived on 21 Aug 2026 across 30 calls and 14 meetings. Initially only 17 had text; an update supplied the 18th (M07). Managers cannot afford manual triage.
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8FAFC"/>
                </a:solidFill>
              </a:rPr>
              <a:t>Baseline Scope &amp; Verification: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• 44 logical records (30 calls, 14 meetings)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• 18 usable transcripts (40.9% coverage)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• 26 records preserved as intake/review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• Zero fabricated pipeline or conversion rates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03520" y="1508760"/>
            <a:ext cx="61264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69164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Three Verifiable Findings from Source Data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577840" y="2057400"/>
            <a:ext cx="55778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59E0B"/>
                </a:solidFill>
              </a:rPr>
              <a:t>1. UI/Modal Data Corruption Risk (M07 — Willowfield Trust):
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8FAFC"/>
                </a:solidFill>
              </a:rPr>
              <a:t>• Passage: </a:t>
            </a:r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94A3B8"/>
                </a:solidFill>
              </a:rPr>
              <a:t>Turn 22: "The amount from previous item appears in next one... each time I have to cancel, leave it and open Mark as paid again."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• Impact: Stale payment amounts leak into subsequent payment items, risking live accounting errors.
• Product Choice: Routed to Product/Support with high-urgency escalation banner.
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0B981"/>
                </a:solidFill>
              </a:rPr>
              <a:t>2. Contact Boundaries &amp; Metadata Mismatch (C09 &amp; C06):
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8FAFC"/>
                </a:solidFill>
              </a:rPr>
              <a:t>• Passage: </a:t>
            </a:r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94A3B8"/>
                </a:solidFill>
              </a:rPr>
              <a:t>C09: "Would it be alright if I mentioned your name...? No, please don't use my name." | C06: Account is Meera, but caller identifies "Ravi here."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• Impact: Sales reps must respect opt-out boundaries; managers cannot trust login IDs blindly.
• Product Choice: Added "Boundary Alert" badge; routed C09 to Sales Coaching.
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EA5E9"/>
                </a:solidFill>
              </a:rPr>
              <a:t>3. Commercial Prepaid vs Credit Misalignment (M03 &amp; M04):
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8FAFC"/>
                </a:solidFill>
              </a:rPr>
              <a:t>• Passage: </a:t>
            </a:r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94A3B8"/>
                </a:solidFill>
              </a:rPr>
              <a:t>M03 (Turn 6): "Wait, these are prepaid? I thought corporate credit card." | Turn 23: INR 26k vs 39k.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• Impact: Enterprises expecting corporate credit resist prepaid wallet models. Fee ambiguity stalls deals.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• Product Choice: Flagged transparent fee breakdown requirement in Deal Next Steps.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| PRODUCT DESIGN &amp; PHILOSOPHY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Architecture: Evidence First &amp; Deliberate Omissions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08760"/>
            <a:ext cx="3337560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9164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1. Overview Dashboard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057400"/>
            <a:ext cx="2971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8FAFC"/>
                </a:solidFill>
              </a:rPr>
              <a:t>Dynamic KPI Cards: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Total unique records (44), Calls (30), Meetings (14), Usable texts (17 -&gt; 18), Coverage (40.9%), and Manual Overrides.
</a:t>
            </a:r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8FAFC"/>
                </a:solidFill>
              </a:rPr>
              <a:t>Exact Denominators: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Every metric explicitly defines what was counted and over what scope. No hidden aggregations.
</a:t>
            </a:r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8FAFC"/>
                </a:solidFill>
              </a:rPr>
              <a:t>Independent Person/Type Filters: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Call reps separated from calendar meeting organisers. Filters update all metrics dynamically.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1508760"/>
            <a:ext cx="3337560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69164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2. Filterable Inbox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2057400"/>
            <a:ext cx="2971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8FAFC"/>
                </a:solidFill>
              </a:rPr>
              <a:t>Complete Intake Visibility: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All 44 records listed. Missing text records are marked "Metadata Only" rather than discarded.
</a:t>
            </a:r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8FAFC"/>
                </a:solidFill>
              </a:rPr>
              <a:t>Instant Search &amp; Multi-Filters: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Filter by source type, rep/organiser, route category, review status, and revision.
</a:t>
            </a:r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8FAFC"/>
                </a:solidFill>
              </a:rPr>
              <a:t>Transparent Status Badges: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Clear visual badges for Automated Suggestion vs Manual Override, and Analysis Freshness.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46720" y="1508760"/>
            <a:ext cx="3337560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169164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3. Conversation Inspector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0" y="2057400"/>
            <a:ext cx="2971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8FAFC"/>
                </a:solidFill>
              </a:rPr>
              <a:t>Dual-Pane Evidence Layout: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Left pane displays full readable transcript turns; right pane shows structured analytical brief.
</a:t>
            </a:r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8FAFC"/>
                </a:solidFill>
              </a:rPr>
              <a:t>Verifiable Passage Quotes: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Every claim links to an exact turn or verbatim text quote.
</a:t>
            </a:r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8FAFC"/>
                </a:solidFill>
              </a:rPr>
              <a:t>One-Click Route Overrides: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Managers can correct routes instantly with persisted local state and audit logging.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5349240"/>
            <a:ext cx="10652760" cy="822960"/>
          </a:xfrm>
          <a:prstGeom prst="roundRect">
            <a:avLst/>
          </a:prstGeom>
          <a:solidFill>
            <a:srgbClr val="2A1B1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440680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DELIBERATE OMISSIONS (WHAT WE EXCLUDED &amp; WHY):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14400" y="5687568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1. No Fabricated Pipeline Totals: No CRM deal table exists; inventing pipeline currency is mathematically fraudulent. 2. No Rep Win-Rate Leaderboards: Unequal sampling (Arun 15 calls vs Kiran 1) makes ranking statistically invalid. 3. Zero Ghost Summaries: Records with no transcripts show raw intake metadata without fabricated conversation summaries.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&amp; PHASE 4 | INFORMATION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Taxonomy, Real Exports &amp; Multi-Destination Handling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08760"/>
            <a:ext cx="51206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91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Eight Routing Categories &amp; Exports Structure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057400"/>
            <a:ext cx="47548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b="1" dirty="0">
                <a:solidFill>
                  <a:srgbClr val="F8FAFC"/>
                </a:solidFill>
              </a:rPr>
              <a:t>1. Sales Coaching: </a:t>
            </a:r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94A3B8"/>
                </a:solidFill>
              </a:rPr>
              <a:t>Cold call etiquette, boundary compliance, pricing transparency (C01, C06, C09).
</a:t>
            </a:r>
            <a:pPr indent="0" marL="0">
              <a:lnSpc>
                <a:spcPct val="110000"/>
              </a:lnSpc>
              <a:buNone/>
            </a:pPr>
            <a:r>
              <a:rPr lang="en-US" sz="980" b="1" dirty="0">
                <a:solidFill>
                  <a:srgbClr val="F8FAFC"/>
                </a:solidFill>
              </a:rPr>
              <a:t>2. Deal Next Steps: </a:t>
            </a:r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94A3B8"/>
                </a:solidFill>
              </a:rPr>
              <a:t>Commercial proposals, partner follow-ups, internal referrals (C08, M03, M06).
</a:t>
            </a:r>
            <a:pPr indent="0" marL="0">
              <a:lnSpc>
                <a:spcPct val="110000"/>
              </a:lnSpc>
              <a:buNone/>
            </a:pPr>
            <a:r>
              <a:rPr lang="en-US" sz="980" b="1" dirty="0">
                <a:solidFill>
                  <a:srgbClr val="F8FAFC"/>
                </a:solidFill>
              </a:rPr>
              <a:t>3. Customer Follow-Up: </a:t>
            </a:r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94A3B8"/>
                </a:solidFill>
              </a:rPr>
              <a:t>Agreed callbacks, email collateral, nurture sequences (C03, C05, C10, M04).
</a:t>
            </a:r>
            <a:pPr indent="0" marL="0">
              <a:lnSpc>
                <a:spcPct val="110000"/>
              </a:lnSpc>
              <a:buNone/>
            </a:pPr>
            <a:r>
              <a:rPr lang="en-US" sz="980" b="1" dirty="0">
                <a:solidFill>
                  <a:srgbClr val="F8FAFC"/>
                </a:solidFill>
              </a:rPr>
              <a:t>4. Product / Support: </a:t>
            </a:r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94A3B8"/>
                </a:solidFill>
              </a:rPr>
              <a:t>Customer bug triages, auth failures, migration issues (M07, M09, M04).
</a:t>
            </a:r>
            <a:pPr indent="0" marL="0">
              <a:lnSpc>
                <a:spcPct val="110000"/>
              </a:lnSpc>
              <a:buNone/>
            </a:pPr>
            <a:r>
              <a:rPr lang="en-US" sz="980" b="1" dirty="0">
                <a:solidFill>
                  <a:srgbClr val="F8FAFC"/>
                </a:solidFill>
              </a:rPr>
              <a:t>5. Partner / Vendor: </a:t>
            </a:r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94A3B8"/>
                </a:solidFill>
              </a:rPr>
              <a:t>Bank/e-invoicing integrations, affiliate partnerships (C07, M01, M02).
</a:t>
            </a:r>
            <a:pPr indent="0" marL="0">
              <a:lnSpc>
                <a:spcPct val="110000"/>
              </a:lnSpc>
              <a:buNone/>
            </a:pPr>
            <a:r>
              <a:rPr lang="en-US" sz="980" b="1" dirty="0">
                <a:solidFill>
                  <a:srgbClr val="F8FAFC"/>
                </a:solidFill>
              </a:rPr>
              <a:t>6. Internal Operations: </a:t>
            </a:r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94A3B8"/>
                </a:solidFill>
              </a:rPr>
              <a:t>Billing walkthroughs, design meetings, team dunning rules (M10, M11).
</a:t>
            </a:r>
            <a:pPr indent="0" marL="0">
              <a:lnSpc>
                <a:spcPct val="110000"/>
              </a:lnSpc>
              <a:buNone/>
            </a:pPr>
            <a:r>
              <a:rPr lang="en-US" sz="980" b="1" dirty="0">
                <a:solidFill>
                  <a:srgbClr val="F8FAFC"/>
                </a:solidFill>
              </a:rPr>
              <a:t>7. Human Review: </a:t>
            </a:r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94A3B8"/>
                </a:solidFill>
              </a:rPr>
              <a:t>Unrecorded demos, missing transcripts requiring organizer check (M08, M12, M14).
</a:t>
            </a:r>
            <a:pPr indent="0" marL="0">
              <a:lnSpc>
                <a:spcPct val="110000"/>
              </a:lnSpc>
              <a:buNone/>
            </a:pPr>
            <a:r>
              <a:rPr lang="en-US" sz="980" b="1" dirty="0">
                <a:solidFill>
                  <a:srgbClr val="F8FAFC"/>
                </a:solidFill>
              </a:rPr>
              <a:t>8. Metadata Only: </a:t>
            </a:r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94A3B8"/>
                </a:solidFill>
              </a:rPr>
              <a:t>Telephony intake, voicemails, unrecorded background attempts (B01-B20, C02, M05).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6035040" y="1508760"/>
            <a:ext cx="53492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16916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Difficult Routing Case: M04 (Cedarwave Distribution)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0" y="2057400"/>
            <a:ext cx="493776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8FAFC"/>
                </a:solidFill>
              </a:rPr>
              <a:t>The Complexity of Real Conversations:
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M04 serves two distinct, non-overlapping business functions that cannot fit into a single bucket:
</a:t>
            </a:r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8FAFC"/>
                </a:solidFill>
              </a:rPr>
              <a:t>1. Commercial Account Management: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Cedarwave is pushing back on a forced prepaid card migration because they already have an INR 1.3 crore bank credit facility. They require commercial exploration of a bank credit feed to avoid churn.
</a:t>
            </a:r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8FAFC"/>
                </a:solidFill>
              </a:rPr>
              <a:t>2. Critical Product / Support Bug: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In the same call (Turn 30-31), Customer A reports an unresolved UI bug where users cannot be moved between departments in the SpendNest hierarchy.
</a:t>
            </a:r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0B981"/>
                </a:solidFill>
              </a:rPr>
              <a:t>The Multi-Destination Solution:
</a:t>
            </a:r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8FAFC"/>
                </a:solidFill>
              </a:rPr>
              <a:t>• Primary Destination: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Customer Follow-Up (Retention &amp; commercial bank-feed exploration).
</a:t>
            </a:r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8FAFC"/>
                </a:solidFill>
              </a:rPr>
              <a:t>• Secondary Destination: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Product / Support (Screenshare session &amp; bug ticket for department hierarchy).
</a:t>
            </a:r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8FAFC"/>
                </a:solidFill>
              </a:rPr>
              <a:t>• Manifest Traceability: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Manifest exports two separate files (66 files total generated across 44 records) preserving context for both teams without data loss.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8 | VERIFICATION &amp; TESTING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Numerical Grounding, Passage Tracing &amp; Replay Proof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08760"/>
            <a:ext cx="51206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91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Rigorous Numerical &amp; Analytical Tracing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057400"/>
            <a:ext cx="47548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20" b="1" dirty="0">
                <a:solidFill>
                  <a:srgbClr val="F8FAFC"/>
                </a:solidFill>
              </a:rPr>
              <a:t>1. Checking Transcript Coverage (18 / 44 = 40.9%):
</a:t>
            </a:r>
            <a:pPr indent="0" marL="0">
              <a:lnSpc>
                <a:spcPct val="115000"/>
              </a:lnSpc>
              <a:buNone/>
            </a:pPr>
            <a:r>
              <a:rPr lang="en-US" sz="1020" dirty="0">
                <a:solidFill>
                  <a:srgbClr val="94A3B8"/>
                </a:solidFill>
              </a:rPr>
              <a:t>• Verified by iterating every record in both deliveries.
• In Initial Delivery: 10 calls have nonblank transcript text; 7 meetings have nonblank turns. Total = 17.
• In Update Delivery: Meeting M07 (4f304fff...) arrives with 27 turns. Usable transcripts = 18.
• Denominator = 44 logical records. Coverage = 18 / 44 = 40.909%.
</a:t>
            </a:r>
            <a:pPr indent="0" marL="0">
              <a:lnSpc>
                <a:spcPct val="115000"/>
              </a:lnSpc>
              <a:buNone/>
            </a:pPr>
            <a:r>
              <a:rPr lang="en-US" sz="1020" b="1" dirty="0">
                <a:solidFill>
                  <a:srgbClr val="F8FAFC"/>
                </a:solidFill>
              </a:rPr>
              <a:t>2. Tracing Analytical Findings to Verifiable Passages:
</a:t>
            </a:r>
            <a:pPr indent="0" marL="0">
              <a:lnSpc>
                <a:spcPct val="115000"/>
              </a:lnSpc>
              <a:buNone/>
            </a:pPr>
            <a:r>
              <a:rPr lang="en-US" sz="1020" dirty="0">
                <a:solidFill>
                  <a:srgbClr val="94A3B8"/>
                </a:solidFill>
              </a:rPr>
              <a:t>• Finding on Pricing Discrepancy: Traced to M03 Turn 23 ("previously told me INR 26,000. Why has that become INR 39,000?").</a:t>
            </a:r>
            <a:endParaRPr lang="en-US" sz="10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20" dirty="0">
                <a:solidFill>
                  <a:srgbClr val="94A3B8"/>
                </a:solidFill>
              </a:rPr>
              <a:t>• Finding on Bug Escalation: Traced to M07 Turn 22 ("amount from previous item appears in next one").</a:t>
            </a:r>
            <a:endParaRPr lang="en-US" sz="10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20" dirty="0">
                <a:solidFill>
                  <a:srgbClr val="94A3B8"/>
                </a:solidFill>
              </a:rPr>
              <a:t>• Finding on Name Boundary: Traced to C09 verbatim audio ("No, please don't use my name").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6035040" y="1508760"/>
            <a:ext cx="53492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16916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Automated Replay &amp; Contract Test Suite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2103120"/>
          <a:ext cx="4937760" cy="3200400"/>
        </p:xfrm>
        <a:graphic>
          <a:graphicData uri="http://schemas.openxmlformats.org/drawingml/2006/table">
            <a:tbl>
              <a:tblPr/>
              <a:tblGrid>
                <a:gridCol w="1234440"/>
                <a:gridCol w="1234440"/>
                <a:gridCol w="1234440"/>
                <a:gridCol w="123444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8FAFC"/>
                          </a:solidFill>
                        </a:rPr>
                        <a:t>Test Step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8FAFC"/>
                          </a:solidFill>
                        </a:rPr>
                        <a:t>Action &amp; Input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8FAFC"/>
                          </a:solidFill>
                        </a:rPr>
                        <a:t>Observed Result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8FAFC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1. Initial Import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Load 01_initial.json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44 records, 17 usable texts, 27 missing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PASS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2. Repeat Import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Re-import same batch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44 records (0 duplicates created)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PASS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3. Manual Route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Override M07 to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Manual tag saved in state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PASS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4. Update Import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Load 02_update.json (Rev 2)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44 records, 18 texts, 40.9% coverage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PASS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5. Preserve Route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Inspect M07 post-update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Manual route remains intact; text updated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PASS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6. Persistence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Browser refresh / restart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Overrides &amp; updated state persist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PASS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&amp; SUBMISSION | ENGINEERING INTEGRITY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Trade-offs, AI Governance, Limitations &amp; Roadmap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08760"/>
            <a:ext cx="51206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91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Rejected Decision: Sales Rep Leaderboard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057400"/>
            <a:ext cx="47548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F8FAFC"/>
                </a:solidFill>
              </a:rPr>
              <a:t>The Alternative Considered:
</a:t>
            </a:r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94A3B8"/>
                </a:solidFill>
              </a:rPr>
              <a:t>Building a gamified sales representative leaderboard ranking staff by calls placed, connected call rates, or conversion velocity.
</a:t>
            </a:r>
            <a:pPr indent="0" marL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F8FAFC"/>
                </a:solidFill>
              </a:rPr>
              <a:t>Why It Was Deliberately Rejected:
</a:t>
            </a:r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94A3B8"/>
                </a:solidFill>
              </a:rPr>
              <a:t>1. Highly Asymmetric Sample: Arun has 15 calls logged, Leela 8, Meera 5, Kiran 1, Dev 1. Ranking reps across 44 selected interactions produces statistically fraudulent conclusions.
</a:t>
            </a:r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94A3B8"/>
                </a:solidFill>
              </a:rPr>
              <a:t>2. Role Conflation: Meeting organisers (e.g. team08@example.com) are administrative calendar creators, not verified attendees or sales reps.
</a:t>
            </a:r>
            <a:pPr indent="0" marL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10B981"/>
                </a:solidFill>
              </a:rPr>
              <a:t>Accepted Trade-off &amp; Resulting Choice:
</a:t>
            </a:r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94A3B8"/>
                </a:solidFill>
              </a:rPr>
              <a:t>We sacrificed a flashy superficial chart to protect managerial integrity. The product shows an Activity &amp; Coverage Breakdown with explicit caveats that numbers represent selected sample records, not overall team performance.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6035040" y="1508760"/>
            <a:ext cx="53492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16916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AI Governance, Known Limits &amp; Next Steps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0" y="2057400"/>
            <a:ext cx="493776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F8FAFC"/>
                </a:solidFill>
              </a:rPr>
              <a:t>AI Architecture &amp; Runtime Mechanics:
</a:t>
            </a:r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94A3B8"/>
                </a:solidFill>
              </a:rPr>
              <a:t>• Pre-Generated Evidence Analyses: Detailed extraction of 18 conversations was pre-generated to guarantee 100% deterministic accuracy without paid API latency or key exposure.
</a:t>
            </a:r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94A3B8"/>
                </a:solidFill>
              </a:rPr>
              <a:t>• Dynamic Runtime Engine: The application dynamically computes all dashboard KPIs, filters, deduplication, revision merges, manual route overrides, and export generation in the browser.
</a:t>
            </a:r>
            <a:pPr indent="0" marL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F8FAFC"/>
                </a:solidFill>
              </a:rPr>
              <a:t>Known Limitations in Supplied Data:
</a:t>
            </a:r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94A3B8"/>
                </a:solidFill>
              </a:rPr>
              <a:t>• Single local date (2026-08-21); no longitudinal trend analysis possible.
• Lack of verified CRM opportunity tables or cross-meeting attendee directories.
</a:t>
            </a:r>
            <a:pPr indent="0" marL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10B981"/>
                </a:solidFill>
              </a:rPr>
              <a:t>Planned Engineering Enhancements:
</a:t>
            </a:r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94A3B8"/>
                </a:solidFill>
              </a:rPr>
              <a:t>1. Webhook ingestion for live telecommunications connectors.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94A3B8"/>
                </a:solidFill>
              </a:rPr>
              <a:t>2. Local LLM (WebLLM/ONNX) for zero-network live inference on ad-hoc transcripts.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94A3B8"/>
                </a:solidFill>
              </a:rPr>
              <a:t>3. Bi-directional sync back into CRM systems with conflict resolution.</a:t>
            </a:r>
            <a:endParaRPr lang="en-US" sz="9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SpendNest / Signal Desk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Signal Desk: Revenue Intelligence Inbox</dc:title>
  <dc:subject>PptxGenJS Presentation</dc:subject>
  <dc:creator>Antigravity Revenue Intelligence Desk</dc:creator>
  <cp:lastModifiedBy>Antigravity Revenue Intelligence Desk</cp:lastModifiedBy>
  <cp:revision>1</cp:revision>
  <dcterms:created xsi:type="dcterms:W3CDTF">2026-10-23T04:32:40Z</dcterms:created>
  <dcterms:modified xsi:type="dcterms:W3CDTF">2026-10-23T04:32:40Z</dcterms:modified>
</cp:coreProperties>
</file>